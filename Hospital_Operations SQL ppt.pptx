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Focus</c:v>
                </c:pt>
              </c:strCache>
            </c:strRef>
          </c:tx>
          <c:spPr>
            <a:solidFill>
              <a:srgbClr val="E3061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Patient Type</c:v>
                </c:pt>
                <c:pt idx="1">
                  <c:v>Service</c:v>
                </c:pt>
                <c:pt idx="2">
                  <c:v>Priority</c:v>
                </c:pt>
                <c:pt idx="3">
                  <c:v>City</c:v>
                </c:pt>
                <c:pt idx="4">
                  <c:v>Channel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90</c:v>
                </c:pt>
                <c:pt idx="2">
                  <c:v>75</c:v>
                </c:pt>
                <c:pt idx="3">
                  <c:v>70</c:v>
                </c:pt>
                <c:pt idx="4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4E-4B33-8B12-94195A8F6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 Focus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3061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4C-4205-9725-647D71F1FCF7}"/>
              </c:ext>
            </c:extLst>
          </c:dPt>
          <c:dPt>
            <c:idx val="1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4C-4205-9725-647D71F1FCF7}"/>
              </c:ext>
            </c:extLst>
          </c:dPt>
          <c:dPt>
            <c:idx val="2"/>
            <c:bubble3D val="0"/>
            <c:spPr>
              <a:solidFill>
                <a:srgbClr val="FFA0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4C-4205-9725-647D71F1FCF7}"/>
              </c:ext>
            </c:extLst>
          </c:dPt>
          <c:dPt>
            <c:idx val="3"/>
            <c:bubble3D val="0"/>
            <c:spPr>
              <a:solidFill>
                <a:srgbClr val="FFB3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4C-4205-9725-647D71F1FCF7}"/>
              </c:ext>
            </c:extLst>
          </c:dPt>
          <c:dPt>
            <c:idx val="4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04C-4205-9725-647D71F1FCF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04C-4205-9725-647D71F1FCF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04C-4205-9725-647D71F1FCF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04C-4205-9725-647D71F1FCF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04C-4205-9725-647D71F1FCF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04C-4205-9725-647D71F1FCF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Completed</c:v>
                </c:pt>
                <c:pt idx="1">
                  <c:v>In Progress</c:v>
                </c:pt>
                <c:pt idx="2">
                  <c:v>Rescheduled</c:v>
                </c:pt>
                <c:pt idx="3">
                  <c:v>Cancelled</c:v>
                </c:pt>
                <c:pt idx="4">
                  <c:v>No-Show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20</c:v>
                </c:pt>
                <c:pt idx="2">
                  <c:v>15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04C-4205-9725-647D71F1FC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13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/home/workdir/artifacts/innomatic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640080"/>
            <a:ext cx="40233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INNOVATION. AUTOMATION. ANALYTICS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OPERATIONS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ANALYTICS PROJECT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371600" y="3383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hospital operations into an analyzable data model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Abhinav Yadav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4297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 •  Database Design  •  Business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project — handled independently.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128016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25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Background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student / graduate with a technical focus on data-oriented problem solving and database fundamentals.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64008" cy="128016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25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Data Science?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645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learn how raw information can be cleaned, structured, analyzed and converted into useful business insights.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64008" cy="128016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432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Experience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0632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internship experience with Cognifyz Technologies and Edu Expose Foundation.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560320"/>
            <a:ext cx="64008" cy="128016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7432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0632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linkedin.com/in/abhinavyadav2705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github.com/abhinavyadav27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1148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planning  •  SQL schema design  •  Query writing  •  Analysis framing  •  Presentation</a:t>
            </a:r>
            <a:endParaRPr lang="en-US" sz="1200" dirty="0"/>
          </a:p>
        </p:txBody>
      </p:sp>
      <p:pic>
        <p:nvPicPr>
          <p:cNvPr id="23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flow based on the Innomatics SQL project template.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11480" cy="4114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11480" cy="4114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Scenario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146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Objectives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546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Database Overview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947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 &amp; Database Structure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11480" cy="4114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34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the Objectives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46320" y="1828800"/>
            <a:ext cx="411480" cy="4114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874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Key Findings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0" y="2468880"/>
            <a:ext cx="411480" cy="4114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5146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846320" y="3108960"/>
            <a:ext cx="411480" cy="4114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1546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46320" y="3749040"/>
            <a:ext cx="411480" cy="4114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7947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500" dirty="0"/>
          </a:p>
        </p:txBody>
      </p:sp>
      <p:pic>
        <p:nvPicPr>
          <p:cNvPr id="35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SQL-based hospital operations database designed for operational analysis.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PURPOSE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connected hospital database that supports demand analysis, treatment-performance monitoring, workforce analysis, and room/equipment utilization.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64008" cy="13716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Lifecycle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profile → registration → appointment → treatment → outcome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920240"/>
            <a:ext cx="64008" cy="13716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423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priorities, estimated cost and booking channels are captured through appointments.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920240"/>
            <a:ext cx="64008" cy="13716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423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status, duration, waiting time, attempts, doctor and room context are captured.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hospital_operations  |  Five connected core tables  |  SQL schema + analytical query logic  |  Focus on operational questions rather than fabricated result values</a:t>
            </a:r>
            <a:endParaRPr lang="en-US" sz="1300" dirty="0"/>
          </a:p>
        </p:txBody>
      </p:sp>
      <p:pic>
        <p:nvPicPr>
          <p:cNvPr id="21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Scenario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database represents the day-to-day hospital workflow.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554480" cy="1417320"/>
          </a:xfrm>
          <a:prstGeom prst="roundRect">
            <a:avLst>
              <a:gd name="adj" fmla="val 6452"/>
            </a:avLst>
          </a:prstGeom>
          <a:solidFill>
            <a:srgbClr val="FFF0F0"/>
          </a:solidFill>
          <a:ln w="1905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984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Profile, city,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92808" y="1691640"/>
            <a:ext cx="201168" cy="182880"/>
          </a:xfrm>
          <a:prstGeom prst="rightArrow">
            <a:avLst/>
          </a:prstGeom>
          <a:solidFill>
            <a:srgbClr val="E30613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1143000"/>
            <a:ext cx="1554480" cy="1417320"/>
          </a:xfrm>
          <a:prstGeom prst="roundRect">
            <a:avLst>
              <a:gd name="adj" fmla="val 6452"/>
            </a:avLst>
          </a:prstGeom>
          <a:solidFill>
            <a:srgbClr val="FFF0F0"/>
          </a:solidFill>
          <a:ln w="19050">
            <a:solidFill>
              <a:srgbClr val="E306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234440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2984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48840" y="17830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057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Service, priority,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channel, cost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75888" y="1691640"/>
            <a:ext cx="201168" cy="182880"/>
          </a:xfrm>
          <a:prstGeom prst="rightArrow">
            <a:avLst/>
          </a:prstGeom>
          <a:solidFill>
            <a:srgbClr val="E30613"/>
          </a:solidFill>
          <a:ln/>
        </p:spPr>
      </p:sp>
      <p:sp>
        <p:nvSpPr>
          <p:cNvPr id="17" name="Shape 15"/>
          <p:cNvSpPr/>
          <p:nvPr/>
        </p:nvSpPr>
        <p:spPr>
          <a:xfrm>
            <a:off x="3886200" y="1143000"/>
            <a:ext cx="1554480" cy="1417320"/>
          </a:xfrm>
          <a:prstGeom prst="roundRect">
            <a:avLst>
              <a:gd name="adj" fmla="val 6452"/>
            </a:avLst>
          </a:prstGeom>
          <a:solidFill>
            <a:srgbClr val="FFF0F0"/>
          </a:solidFill>
          <a:ln w="19050">
            <a:solidFill>
              <a:srgbClr val="E306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234440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2984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31920" y="17830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2057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attempts,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duration, waiting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58968" y="1691640"/>
            <a:ext cx="201168" cy="182880"/>
          </a:xfrm>
          <a:prstGeom prst="rightArrow">
            <a:avLst/>
          </a:prstGeom>
          <a:solidFill>
            <a:srgbClr val="E30613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0" y="1143000"/>
            <a:ext cx="1554480" cy="1417320"/>
          </a:xfrm>
          <a:prstGeom prst="roundRect">
            <a:avLst>
              <a:gd name="adj" fmla="val 6452"/>
            </a:avLst>
          </a:prstGeom>
          <a:solidFill>
            <a:srgbClr val="FFF0F0"/>
          </a:solidFill>
          <a:ln w="19050">
            <a:solidFill>
              <a:srgbClr val="E306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2984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0" y="17830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2057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Specialty, rating,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42048" y="1691640"/>
            <a:ext cx="201168" cy="182880"/>
          </a:xfrm>
          <a:prstGeom prst="rightArrow">
            <a:avLst/>
          </a:prstGeom>
          <a:solidFill>
            <a:srgbClr val="E30613"/>
          </a:solidFill>
          <a:ln/>
        </p:spPr>
      </p:sp>
      <p:sp>
        <p:nvSpPr>
          <p:cNvPr id="29" name="Shape 27"/>
          <p:cNvSpPr/>
          <p:nvPr/>
        </p:nvSpPr>
        <p:spPr>
          <a:xfrm>
            <a:off x="7452360" y="1143000"/>
            <a:ext cx="1554480" cy="1417320"/>
          </a:xfrm>
          <a:prstGeom prst="roundRect">
            <a:avLst>
              <a:gd name="adj" fmla="val 6452"/>
            </a:avLst>
          </a:prstGeom>
          <a:solidFill>
            <a:srgbClr val="FFF0F0"/>
          </a:solidFill>
          <a:ln w="19050">
            <a:solidFill>
              <a:srgbClr val="E306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1234440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12984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98080" y="17830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0" y="2057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QUESTIONS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Where is appointment demand concentrated?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456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Which services and priorities create longer waits or more non-completion?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38039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How do doctors, rooms and equipment contribute to throughput?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1513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Where do repeated treatment attempts indicate possible operational friction?</a:t>
            </a:r>
            <a:endParaRPr lang="en-US" sz="1300" dirty="0"/>
          </a:p>
        </p:txBody>
      </p:sp>
      <p:pic>
        <p:nvPicPr>
          <p:cNvPr id="39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Operations Flow Chart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operational workflow captured in the database.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0" y="1051560"/>
            <a:ext cx="5852160" cy="621792"/>
          </a:xfrm>
          <a:prstGeom prst="roundRect">
            <a:avLst>
              <a:gd name="adj" fmla="val 11765"/>
            </a:avLst>
          </a:prstGeom>
          <a:solidFill>
            <a:srgbClr val="FFF0F0"/>
          </a:solidFill>
          <a:ln w="1905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143000"/>
            <a:ext cx="438912" cy="438912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188720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23160" y="11247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Registration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1371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profile, city, patient type (General / Corporate / Insurance)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45920"/>
            <a:ext cx="201168" cy="146304"/>
          </a:xfrm>
          <a:prstGeom prst="downArrow">
            <a:avLst/>
          </a:prstGeom>
          <a:solidFill>
            <a:srgbClr val="E30613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1764792"/>
            <a:ext cx="58521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306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856232"/>
            <a:ext cx="438912" cy="438912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1901952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23160" y="18379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Booking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20848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type, priority, booking channel, estimated cost, appointment date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359152"/>
            <a:ext cx="201168" cy="146304"/>
          </a:xfrm>
          <a:prstGeom prst="downArrow">
            <a:avLst/>
          </a:prstGeom>
          <a:solidFill>
            <a:srgbClr val="E3061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2478024"/>
            <a:ext cx="5852160" cy="621792"/>
          </a:xfrm>
          <a:prstGeom prst="roundRect">
            <a:avLst>
              <a:gd name="adj" fmla="val 11765"/>
            </a:avLst>
          </a:prstGeom>
          <a:solidFill>
            <a:srgbClr val="FFF0F0"/>
          </a:solidFill>
          <a:ln w="19050">
            <a:solidFill>
              <a:srgbClr val="E306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2569464"/>
            <a:ext cx="438912" cy="438912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2615184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23160" y="25511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Assignment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23160" y="27980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match, rating, employment type, active status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3072384"/>
            <a:ext cx="201168" cy="146304"/>
          </a:xfrm>
          <a:prstGeom prst="downArrow">
            <a:avLst/>
          </a:prstGeom>
          <a:solidFill>
            <a:srgbClr val="E3061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5920" y="3191256"/>
            <a:ext cx="58521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3061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3282696"/>
            <a:ext cx="438912" cy="438912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3328416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23160" y="32644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Execution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23160" y="35112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&amp; equipment allocation, treatment duration, waiting time, attempts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3785616"/>
            <a:ext cx="201168" cy="146304"/>
          </a:xfrm>
          <a:prstGeom prst="downArrow">
            <a:avLst/>
          </a:prstGeom>
          <a:solidFill>
            <a:srgbClr val="E30613"/>
          </a:solidFill>
          <a:ln/>
        </p:spPr>
      </p:sp>
      <p:sp>
        <p:nvSpPr>
          <p:cNvPr id="29" name="Shape 27"/>
          <p:cNvSpPr/>
          <p:nvPr/>
        </p:nvSpPr>
        <p:spPr>
          <a:xfrm>
            <a:off x="1645920" y="3904488"/>
            <a:ext cx="5852160" cy="621792"/>
          </a:xfrm>
          <a:prstGeom prst="roundRect">
            <a:avLst>
              <a:gd name="adj" fmla="val 11765"/>
            </a:avLst>
          </a:prstGeom>
          <a:solidFill>
            <a:srgbClr val="FFF0F0"/>
          </a:solidFill>
          <a:ln w="19050">
            <a:solidFill>
              <a:srgbClr val="E3061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0" y="3995928"/>
            <a:ext cx="438912" cy="438912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0" y="4041648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23160" y="3977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&amp; Status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423160" y="42245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/ In Progress / Rescheduled / Cancelled / No-Show</a:t>
            </a:r>
            <a:endParaRPr lang="en-US" sz="1100" dirty="0"/>
          </a:p>
        </p:txBody>
      </p:sp>
      <p:pic>
        <p:nvPicPr>
          <p:cNvPr id="34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SQL project is structured around measurable operational questions.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0058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patient demand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patients with multiple appointments and compare activity by patient type.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64008" cy="10058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34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service demand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service types, priorities, channels and appointment activity.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40280"/>
            <a:ext cx="64008" cy="10058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77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treatment 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treatment duration, waiting time, attempts and status.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40280"/>
            <a:ext cx="64008" cy="10058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377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doctors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treatment volume with specialty, rating and employment context.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383280"/>
            <a:ext cx="64008" cy="10058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520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887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room utilization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840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 treatment activity to room type, equipment and capacity.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3832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383280"/>
            <a:ext cx="64008" cy="10058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520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exception patterns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3840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repeated attempts, non-completion and city/service friction points.</a:t>
            </a:r>
            <a:endParaRPr lang="en-US" sz="1200" dirty="0"/>
          </a:p>
        </p:txBody>
      </p:sp>
      <p:pic>
        <p:nvPicPr>
          <p:cNvPr id="35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Database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supplied project is a relational SQL schema, not a CSV dataset.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hospital_operations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CORE TABLES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• doctors • rooms • appointments • treatments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2148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analytical 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 and segmentation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doctors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doctor_id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and quality context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 resource inventory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appointments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appointment_id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and booking behavior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service delivery and outcome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AVAILABILITY NOTE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supplied SQL contains schema definitions and analytical queries, but no INSERT statements or query outputs. Therefore, this presentation does not invent numeric results.</a:t>
            </a:r>
            <a:endParaRPr lang="en-US" sz="1200" dirty="0"/>
          </a:p>
        </p:txBody>
      </p:sp>
      <p:pic>
        <p:nvPicPr>
          <p:cNvPr id="12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 &amp; Database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Supplied ER diagram showing patient → appointment → treatment traceability.</a:t>
            </a:r>
            <a:endParaRPr lang="en-US" sz="1200" dirty="0"/>
          </a:p>
        </p:txBody>
      </p:sp>
      <p:pic>
        <p:nvPicPr>
          <p:cNvPr id="5" name="Image 0" descr="/home/workdir/artifacts/er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05840"/>
            <a:ext cx="493776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0972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57800" y="1097280"/>
            <a:ext cx="64008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Logic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0" y="15544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→ appointments via patient_id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→ appointments &amp; treatments via doctor_id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 → treatments via appointment_id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→ treatments via room_id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57800" y="2880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57800" y="2880360"/>
            <a:ext cx="64008" cy="13716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Structure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0" y="33375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keys identify each record. Foreign keys create traceability across patients, doctors, rooms, appointments and treatments.</a:t>
            </a:r>
            <a:endParaRPr lang="en-US" sz="1200" dirty="0"/>
          </a:p>
        </p:txBody>
      </p:sp>
      <p:pic>
        <p:nvPicPr>
          <p:cNvPr id="14" name="Image 1" descr="/home/workdir/artifacts/innomatic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the Objectives — Demand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logic used to understand who books, what they book and how demand is distributed.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7498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Appointments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99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patient_id + HAVING COUNT(*) &gt; 1 — identifies patients with repeated bookings.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74520"/>
            <a:ext cx="64008" cy="7498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221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patients + appointments — compare General, Corporate and Insurance activity.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97480"/>
            <a:ext cx="64008" cy="7498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&amp; Priority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appointments + treatments — compare volume and waiting time by service/priority.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20440"/>
            <a:ext cx="64008" cy="7498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11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&amp; Channel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8679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appointment volume by city and booking channel over time.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View — Demand Lenses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846320" y="1371600"/>
          <a:ext cx="39319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3" name="Image 0" descr="/home/workdir/artifacts/innomatic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— Treatment Outcomes &amp; Experience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logic connecting demand to delivered care.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7498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99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status: Completed, In Progress, Rescheduled, Cancelled, No-Show.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74520"/>
            <a:ext cx="64008" cy="7498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Duration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221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/ MIN / MAX treatment_duration_min by service or operational dimensions.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97480"/>
            <a:ext cx="64008" cy="7498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average waiting_time_min by service, priority, city and attempts.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20440"/>
            <a:ext cx="64008" cy="7498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11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Attempts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8679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MAX(treatment_attempt) &gt; 1 highlights appointments needing review.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Dimensions to Monitor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937760" y="1371600"/>
          <a:ext cx="37490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484632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EXPERIENCE LENS: Appointment → Treatment → Duration + Wait → Outcome</a:t>
            </a:r>
            <a:endParaRPr lang="en-US" sz="1100" dirty="0"/>
          </a:p>
        </p:txBody>
      </p:sp>
      <p:pic>
        <p:nvPicPr>
          <p:cNvPr id="24" name="Image 0" descr="/home/workdir/artifacts/innomatic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— Doctors, Rooms &amp; Resources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throughput to people and physical resources.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8288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Treatment volume by doctor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Outcome distribution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Avg / min / max treatment duration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Specialty, rating, employment type, active status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8288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&amp; Equipment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Treatment volume by room type / equipment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duration and waiting 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treatment cost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Capacity, availability and maintenance context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08960"/>
            <a:ext cx="64008" cy="128016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Rule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ratings and throughput should be read alongside case mix, specialty, workload, service type and outcome definitions.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08960"/>
            <a:ext cx="64008" cy="128016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Decision Lens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566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model to compare throughput, experience and resource use, then investigate the drivers behind differences.</a:t>
            </a:r>
            <a:endParaRPr lang="en-US" sz="1200" dirty="0"/>
          </a:p>
        </p:txBody>
      </p:sp>
      <p:pic>
        <p:nvPicPr>
          <p:cNvPr id="21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Key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supported by the database design and query logic — not fabricated numeric outcomes.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operational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tables create a traceable patient-to-treatment workflow.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analytical lenses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36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Demand, treatment experience, workforce and resource utilization from one schema.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9456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exceptions are visible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6334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attempts and non-completion statuses can be isolated for review.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9456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and location matter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6334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month and city dimensions support demand and performance comparisons.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9184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29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needs production controls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7307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constraints, indexes and controlled values before production use.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29184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429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depend on loaded data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7307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findings can only be confirmed after data is populated and queries run.</a:t>
            </a:r>
            <a:endParaRPr lang="en-US" sz="1200" dirty="0"/>
          </a:p>
        </p:txBody>
      </p:sp>
      <p:pic>
        <p:nvPicPr>
          <p:cNvPr id="29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actions that follow from the analytical framework.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wait-time monitoring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average waiting time by service, priority, city and treatment attempts.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234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repeat-attempt cases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review workflow for appointments requiring multiple treatment attempts.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19456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31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non-completion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651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Cancelled, No-Show and Rescheduled patterns to identify access issues.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9456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331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workforce and resources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651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doctor workload with room/equipment utilization before changing capacity.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9184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429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data quality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749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NOT NULL/CHECK controls, valid ranges, FK indexes and controlled Yes/No values.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2918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291840"/>
            <a:ext cx="64008" cy="960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429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real operational data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3749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SQL against populated data and convert outputs into dashboards/KPIs.</a:t>
            </a:r>
            <a:endParaRPr lang="en-US" sz="1200" dirty="0"/>
          </a:p>
        </p:txBody>
      </p:sp>
      <p:pic>
        <p:nvPicPr>
          <p:cNvPr id="35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51560" cy="3657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demonstrates.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SQL database can turn hospital operations into a clear analytical workflow.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Designed five connected entities for patients, doctors, rooms, appointments and treatments.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Used primary keys and foreign keys to maintain traceability across the hospital workflow.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1401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Created SQL questions for demand, treatment outcomes, patient experience, workforce and resource analysis.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9806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Built an exception-analysis framework for repeated attempts and non-completion patterns.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8211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Kept the presentation evidence-based: no numeric results were invented because the supplied SQL has no loaded data/output.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 →  Relationships  →  SQL queries  →  Business questions  →  Actionable analysis</a:t>
            </a:r>
            <a:endParaRPr lang="en-US" sz="1300" dirty="0"/>
          </a:p>
        </p:txBody>
      </p:sp>
      <p:pic>
        <p:nvPicPr>
          <p:cNvPr id="13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Operations SQL Analytics Project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Abhinav Yadav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time. I am ready for questions.</a:t>
            </a:r>
            <a:endParaRPr lang="en-US" sz="1300" dirty="0"/>
          </a:p>
        </p:txBody>
      </p:sp>
      <p:pic>
        <p:nvPicPr>
          <p:cNvPr id="11" name="Image 0" descr="/home/workdir/artifacts/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754880"/>
            <a:ext cx="155448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9536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Operations SQL Analytics 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Abhinav Yadav</a:t>
            </a:r>
            <a:endParaRPr lang="en-US" sz="1400" dirty="0"/>
          </a:p>
        </p:txBody>
      </p:sp>
      <p:pic>
        <p:nvPicPr>
          <p:cNvPr id="9" name="Image 0" descr="/home/workdir/artifacts/innomatic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114800"/>
            <a:ext cx="274320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1485</Words>
  <Application>Microsoft Office PowerPoint</Application>
  <PresentationFormat>On-screen Show (16:9)</PresentationFormat>
  <Paragraphs>276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Operations SQL Analytics Project</dc:title>
  <dc:subject>SQL • Database Design • Business Analysis</dc:subject>
  <dc:creator>Abhinav Yadav</dc:creator>
  <cp:lastModifiedBy>Abhinav Yadav</cp:lastModifiedBy>
  <cp:revision>2</cp:revision>
  <dcterms:created xsi:type="dcterms:W3CDTF">2026-08-21T07:13:19Z</dcterms:created>
  <dcterms:modified xsi:type="dcterms:W3CDTF">2026-08-21T13:29:55Z</dcterms:modified>
</cp:coreProperties>
</file>